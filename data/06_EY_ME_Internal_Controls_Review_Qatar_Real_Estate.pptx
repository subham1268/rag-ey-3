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EY Middle East  |  Risk &amp; 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Controls Review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Remediation Plan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Qatari Real Estate Development Authority  |  State of Qatar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ID: ME-RC-2024-0018  |  March 2024  |  EY Middle East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A0274F"/>
          </a:solidFill>
          <a:ln w="12700">
            <a:solidFill>
              <a:srgbClr val="A027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better working world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0E2E"/>
          </a:solidFill>
          <a:ln w="12700">
            <a:solidFill>
              <a:srgbClr val="4A0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F5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reviewed internal controls across 6 business processes: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Procurement &amp; Vendor Management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Revenue Recognition &amp; Collections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Project Cost Management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Fixed Asset Management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Financial Reporting &amp; Close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IT General Controls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91440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Finding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1325880" cy="429768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63040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463040"/>
            <a:ext cx="1325880" cy="429768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463040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1463040"/>
            <a:ext cx="1325880" cy="429768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463040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938528"/>
            <a:ext cx="1325880" cy="429768"/>
          </a:xfrm>
          <a:prstGeom prst="rect">
            <a:avLst/>
          </a:prstGeom>
          <a:solidFill>
            <a:srgbClr val="FFD0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938528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938528"/>
            <a:ext cx="1325880" cy="429768"/>
          </a:xfrm>
          <a:prstGeom prst="rect">
            <a:avLst/>
          </a:prstGeom>
          <a:solidFill>
            <a:srgbClr val="FFD0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938528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1938528"/>
            <a:ext cx="1325880" cy="429768"/>
          </a:xfrm>
          <a:prstGeom prst="rect">
            <a:avLst/>
          </a:prstGeom>
          <a:solidFill>
            <a:srgbClr val="FFD0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938528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414016"/>
            <a:ext cx="1325880" cy="429768"/>
          </a:xfrm>
          <a:prstGeom prst="rect">
            <a:avLst/>
          </a:prstGeom>
          <a:solidFill>
            <a:srgbClr val="FFE8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414016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414016"/>
            <a:ext cx="1325880" cy="429768"/>
          </a:xfrm>
          <a:prstGeom prst="rect">
            <a:avLst/>
          </a:prstGeom>
          <a:solidFill>
            <a:srgbClr val="FFE8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414016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60920" y="2414016"/>
            <a:ext cx="1325880" cy="429768"/>
          </a:xfrm>
          <a:prstGeom prst="rect">
            <a:avLst/>
          </a:prstGeom>
          <a:solidFill>
            <a:srgbClr val="FFE8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414016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2889504"/>
            <a:ext cx="1325880" cy="429768"/>
          </a:xfrm>
          <a:prstGeom prst="rect">
            <a:avLst/>
          </a:prstGeom>
          <a:solidFill>
            <a:srgbClr val="FFFA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889504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2889504"/>
            <a:ext cx="1325880" cy="429768"/>
          </a:xfrm>
          <a:prstGeom prst="rect">
            <a:avLst/>
          </a:prstGeom>
          <a:solidFill>
            <a:srgbClr val="FFFA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889504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60920" y="2889504"/>
            <a:ext cx="1325880" cy="429768"/>
          </a:xfrm>
          <a:prstGeom prst="rect">
            <a:avLst/>
          </a:prstGeom>
          <a:solidFill>
            <a:srgbClr val="FFFAC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2889504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364992"/>
            <a:ext cx="1325880" cy="429768"/>
          </a:xfrm>
          <a:prstGeom prst="rect">
            <a:avLst/>
          </a:prstGeom>
          <a:solidFill>
            <a:srgbClr val="D0FF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364992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3364992"/>
            <a:ext cx="1325880" cy="429768"/>
          </a:xfrm>
          <a:prstGeom prst="rect">
            <a:avLst/>
          </a:prstGeom>
          <a:solidFill>
            <a:srgbClr val="D0FF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3364992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60920" y="3364992"/>
            <a:ext cx="1325880" cy="429768"/>
          </a:xfrm>
          <a:prstGeom prst="rect">
            <a:avLst/>
          </a:prstGeom>
          <a:solidFill>
            <a:srgbClr val="D0FFD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3364992"/>
            <a:ext cx="1325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0274F"/>
          </a:solidFill>
          <a:ln w="12700">
            <a:solidFill>
              <a:srgbClr val="A02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Findings: Procurement Controls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0" cy="10972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CF-01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960120"/>
            <a:ext cx="7680960" cy="1097280"/>
          </a:xfrm>
          <a:prstGeom prst="rect">
            <a:avLst/>
          </a:prstGeom>
          <a:solidFill>
            <a:srgbClr val="FAF6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05156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Approval Bypass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vendor payments totalling QAR 18.7M processed without approved vendor master records. Segregation of duties absent between vendor creation and payment authorisation.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640080" cy="10972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CF-02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2286000"/>
            <a:ext cx="7680960" cy="1097280"/>
          </a:xfrm>
          <a:prstGeom prst="rect">
            <a:avLst/>
          </a:prstGeom>
          <a:solidFill>
            <a:srgbClr val="FAF6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377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Threshold Violations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72491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contracts between QAR 2-5M approved at manager level, bypassing the Board Tender Committee threshold of QAR 2M. Potential exposure: QAR 38M.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640080" cy="109728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1188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CF-03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611880"/>
            <a:ext cx="7680960" cy="1097280"/>
          </a:xfrm>
          <a:prstGeom prst="rect">
            <a:avLst/>
          </a:prstGeom>
          <a:solidFill>
            <a:srgbClr val="FAF6F0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70332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of Interest Disclosures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05079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conflict-of-interest declarations not obtained for 67% of procurement staff. Three vendors identified with undisclosed relationships to procurement officers.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0E2E"/>
          </a:solidFill>
          <a:ln w="12700">
            <a:solidFill>
              <a:srgbClr val="4A0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Plan &amp; Timelines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0" y="914400"/>
            <a:ext cx="2560320" cy="548640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914400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1280160" cy="548640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91440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097280" cy="548640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91440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55280" y="914400"/>
            <a:ext cx="914400" cy="548640"/>
          </a:xfrm>
          <a:prstGeom prst="rect">
            <a:avLst/>
          </a:prstGeom>
          <a:solidFill>
            <a:srgbClr val="4A0E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914400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527048"/>
            <a:ext cx="274320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27048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CF-01: Vendor Bypass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527048"/>
            <a:ext cx="256032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527048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3-way vendor approval workflow in ERP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527048"/>
            <a:ext cx="128016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527048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CFO/IT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0" y="1527048"/>
            <a:ext cx="109728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52704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955280" y="1527048"/>
            <a:ext cx="91440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527048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139696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139696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CF-02: Contract Threshold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17520" y="2139696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139696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delegation of authority matrix; Board ratification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2139696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139696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CEO/Legal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0" y="2139696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139696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55280" y="2139696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139696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752344"/>
            <a:ext cx="274320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52344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CF-03: COI Disclosures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17520" y="2752344"/>
            <a:ext cx="256032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752344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Retroactive disclosure collection; annual policy refresh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2752344"/>
            <a:ext cx="128016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752344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HR/Compliance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0" y="2752344"/>
            <a:ext cx="109728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752344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955280" y="2752344"/>
            <a:ext cx="91440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2752344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364992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364992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HF-01: Fixed Asset Register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17520" y="3364992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3364992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verification of 3,400 assets; ERP reconciliation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77840" y="3364992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364992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58000" y="3364992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955280" y="3364992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3364992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3977640"/>
            <a:ext cx="274320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HF-02: Revenue Recognition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17520" y="3977640"/>
            <a:ext cx="256032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15 policy update; training for finance team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577840" y="3977640"/>
            <a:ext cx="128016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39776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Finance/Audit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58000" y="3977640"/>
            <a:ext cx="109728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397764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2024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955280" y="3977640"/>
            <a:ext cx="914400" cy="548640"/>
          </a:xfrm>
          <a:prstGeom prst="rect">
            <a:avLst/>
          </a:prstGeom>
          <a:solidFill>
            <a:srgbClr val="F5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55280" y="3977640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4320" y="459028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590288"/>
            <a:ext cx="27432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IT-01: Access Management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017520" y="4590288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0" y="4590288"/>
            <a:ext cx="2560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access review; quarterly recertification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577840" y="4590288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7840" y="4590288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858000" y="4590288"/>
            <a:ext cx="1097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4590288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2024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955280" y="4590288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55280" y="4590288"/>
            <a:ext cx="9144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Controls Review</dc:title>
  <dc:subject>PptxGenJS Presentation</dc:subject>
  <dc:creator>PptxGenJS</dc:creator>
  <cp:lastModifiedBy>PptxGenJS</cp:lastModifiedBy>
  <cp:revision>1</cp:revision>
  <dcterms:created xsi:type="dcterms:W3CDTF">2026-05-21T05:43:38Z</dcterms:created>
  <dcterms:modified xsi:type="dcterms:W3CDTF">2026-05-21T05:43:38Z</dcterms:modified>
</cp:coreProperties>
</file>