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EY Middle East  |  Strategy &amp; Operations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Resilience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Redesign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2030 Industrial Cluster  |  Kingdom of Saudi Arabia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ID: ME-SO-2024-0031  |  January 2024  |  EY Middle East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better working world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" cy="384048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8686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Overview &amp; 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2379"/>
            <a:ext cx="502920" cy="384048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2379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62379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Supply Chain Diagnostics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15922"/>
            <a:ext cx="502920" cy="384048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592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1592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Exposure Assessment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502920" cy="384048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946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6946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Options &amp; Recommendations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23006"/>
            <a:ext cx="502920" cy="384048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2300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02300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&amp; Investment Case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76549"/>
            <a:ext cx="502920" cy="384048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6549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476549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Supply Chain Vulnerabilities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ID: ME-SO-2024-0031  |  EY Middle East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1737360"/>
          </a:xfrm>
          <a:prstGeom prst="rect">
            <a:avLst/>
          </a:prstGeom>
          <a:solidFill>
            <a:srgbClr val="E8F0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Single-source dependency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critical components sourced from single suppliers — 3x the industry risk threshold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1737360"/>
          </a:xfrm>
          <a:prstGeom prst="rect">
            <a:avLst/>
          </a:prstGeom>
          <a:solidFill>
            <a:srgbClr val="F2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430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days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lead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9933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Vision 2030 target of &lt;21 days. Key bottleneck: port clearance at Jeddah Islamic Port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023360" cy="1737360"/>
          </a:xfrm>
          <a:prstGeom prst="rect">
            <a:avLst/>
          </a:prstGeom>
          <a:solidFill>
            <a:srgbClr val="E8F0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632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340M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432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disruption 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136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cost of supply chain disruptions — 8.2% of COGS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23360" cy="1737360"/>
          </a:xfrm>
          <a:prstGeom prst="rect">
            <a:avLst/>
          </a:prstGeom>
          <a:solidFill>
            <a:srgbClr val="F2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0632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0916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gap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9136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local content at 23% vs. IKTVA programme target of 35% by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Assessment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502920"/>
          </a:xfrm>
          <a:prstGeom prst="rect">
            <a:avLst/>
          </a:prstGeom>
          <a:solidFill>
            <a:srgbClr val="0F2B4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1188720" cy="502920"/>
          </a:xfrm>
          <a:prstGeom prst="rect">
            <a:avLst/>
          </a:prstGeom>
          <a:solidFill>
            <a:srgbClr val="0F2B4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914400"/>
            <a:ext cx="1005840" cy="502920"/>
          </a:xfrm>
          <a:prstGeom prst="rect">
            <a:avLst/>
          </a:prstGeom>
          <a:solidFill>
            <a:srgbClr val="0F2B4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914400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914400"/>
            <a:ext cx="1005840" cy="502920"/>
          </a:xfrm>
          <a:prstGeom prst="rect">
            <a:avLst/>
          </a:prstGeom>
          <a:solidFill>
            <a:srgbClr val="0F2B4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914400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914400"/>
            <a:ext cx="1280160" cy="502920"/>
          </a:xfrm>
          <a:prstGeom prst="rect">
            <a:avLst/>
          </a:prstGeom>
          <a:solidFill>
            <a:srgbClr val="0F2B4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914400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472184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72184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Supplier Insolvency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472184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472184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472184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472184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1472184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472184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472184"/>
            <a:ext cx="1280160" cy="502920"/>
          </a:xfrm>
          <a:prstGeom prst="rect">
            <a:avLst/>
          </a:prstGeom>
          <a:solidFill>
            <a:srgbClr val="FFD0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472184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029968"/>
            <a:ext cx="292608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029968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Disruption (Port Congestion)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029968"/>
            <a:ext cx="118872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029968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2029968"/>
            <a:ext cx="100584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029968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2029968"/>
            <a:ext cx="100584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2029968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2029968"/>
            <a:ext cx="1280160" cy="502920"/>
          </a:xfrm>
          <a:prstGeom prst="rect">
            <a:avLst/>
          </a:prstGeom>
          <a:solidFill>
            <a:srgbClr val="FFD0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029968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587752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587752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Trade Restrictions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2587752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2587752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0" y="2587752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2587752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2587752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2587752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2587752"/>
            <a:ext cx="1280160" cy="502920"/>
          </a:xfrm>
          <a:prstGeom prst="rect">
            <a:avLst/>
          </a:prstGeom>
          <a:solidFill>
            <a:srgbClr val="FFE8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587752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145536"/>
            <a:ext cx="292608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145536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 Price Volatility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3145536"/>
            <a:ext cx="118872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3145536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89120" y="3145536"/>
            <a:ext cx="100584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3145536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94960" y="3145536"/>
            <a:ext cx="100584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3145536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0" y="3145536"/>
            <a:ext cx="1280160" cy="502920"/>
          </a:xfrm>
          <a:prstGeom prst="rect">
            <a:avLst/>
          </a:prstGeom>
          <a:solidFill>
            <a:srgbClr val="FFE8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145536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70332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 Inaccuracy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0" y="3703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89120" y="370332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3703320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94960" y="370332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0" y="3703320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00800" y="3703320"/>
            <a:ext cx="1280160" cy="502920"/>
          </a:xfrm>
          <a:prstGeom prst="rect">
            <a:avLst/>
          </a:prstGeom>
          <a:solidFill>
            <a:srgbClr val="FFFA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4261104"/>
            <a:ext cx="292608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261104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IT/ERP System Failure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0" y="4261104"/>
            <a:ext cx="118872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0" y="4261104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389120" y="4261104"/>
            <a:ext cx="100584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0" y="4261104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394960" y="4261104"/>
            <a:ext cx="1005840" cy="502920"/>
          </a:xfrm>
          <a:prstGeom prst="rect">
            <a:avLst/>
          </a:prstGeom>
          <a:solidFill>
            <a:srgbClr val="F2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94960" y="4261104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00800" y="4261104"/>
            <a:ext cx="1280160" cy="502920"/>
          </a:xfrm>
          <a:prstGeom prst="rect">
            <a:avLst/>
          </a:prstGeom>
          <a:solidFill>
            <a:srgbClr val="FFFA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4261104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481888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818888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Customs Regulatory Change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0" y="4818888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0" y="4818888"/>
            <a:ext cx="1188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389120" y="4818888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4818888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394960" y="4818888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94960" y="4818888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00800" y="4818888"/>
            <a:ext cx="1280160" cy="502920"/>
          </a:xfrm>
          <a:prstGeom prst="rect">
            <a:avLst/>
          </a:prstGeom>
          <a:solidFill>
            <a:srgbClr val="D0FF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0" y="4818888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ID: ME-SO-2024-0031  |  EY Middle East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Diversification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2 alternate suppliers per critical component category within 90 days. Target: reduce single-source dependency to &lt;30% by Q4 2024.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" cy="685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IKTVA Acceleration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3 Saudi manufacturers to localise 8 component families. Projected IKTVA uplift from 23% to 34% — meeting 2025 target.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260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Control Tower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735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real-time visibility platform integrated with SAP S/4HANA. Enables proactive disruption management and reduces response time by 65%.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Buffer Stock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2336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45-day safety stock for top-20 critical SKUs at Riyadh and Dammam distribution hubs. Investment: SAR 85M working capital.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914400"/>
          </a:xfrm>
          <a:prstGeom prst="rect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560320" cy="2194560"/>
          </a:xfrm>
          <a:prstGeom prst="rect">
            <a:avLst/>
          </a:prstGeom>
          <a:solidFill>
            <a:srgbClr val="E8F0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qualification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stock 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tower RFP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417320"/>
            <a:ext cx="274320" cy="914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05840"/>
            <a:ext cx="2560320" cy="91440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560320" cy="2194560"/>
          </a:xfrm>
          <a:prstGeom prst="rect">
            <a:avLst/>
          </a:prstGeom>
          <a:solidFill>
            <a:srgbClr val="E8F0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031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deployment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IKTVA partnerships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274320" cy="914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2560320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560320" cy="2194560"/>
          </a:xfrm>
          <a:prstGeom prst="rect">
            <a:avLst/>
          </a:prstGeom>
          <a:solidFill>
            <a:srgbClr val="E8F0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1031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localisation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E8F0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Investment: SAR 145M over 18 months  |  Projected annual savings: SAR 280M  |  Payback period: 8 months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Resilience Assessment</dc:title>
  <dc:subject>PptxGenJS Presentation</dc:subject>
  <dc:creator>PptxGenJS</dc:creator>
  <cp:lastModifiedBy>PptxGenJS</cp:lastModifiedBy>
  <cp:revision>1</cp:revision>
  <dcterms:created xsi:type="dcterms:W3CDTF">2026-05-21T05:43:38Z</dcterms:created>
  <dcterms:modified xsi:type="dcterms:W3CDTF">2026-05-21T05:43:38Z</dcterms:modified>
</cp:coreProperties>
</file>